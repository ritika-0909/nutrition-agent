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79" r:id="rId7"/>
    <p:sldId id="262" r:id="rId8"/>
    <p:sldId id="290" r:id="rId9"/>
    <p:sldId id="291" r:id="rId10"/>
    <p:sldId id="292"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itika-0909/Nutrition-agen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7"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Machine Learning with IBM Cloud”</a:t>
            </a:r>
          </a:p>
          <a:p>
            <a:pPr algn="ctr"/>
            <a:r>
              <a:rPr lang="en-US" b="1" i="1" dirty="0"/>
              <a:t>(updated)</a:t>
            </a:r>
          </a:p>
          <a:p>
            <a:pPr algn="ct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95585745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Ritika Rani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ritikarani0520@gmail.com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9253100042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pic>
        <p:nvPicPr>
          <p:cNvPr id="5" name="Picture 4">
            <a:extLst>
              <a:ext uri="{FF2B5EF4-FFF2-40B4-BE49-F238E27FC236}">
                <a16:creationId xmlns:a16="http://schemas.microsoft.com/office/drawing/2014/main" id="{7CB2B27C-02FF-4669-EB53-EA952062AF58}"/>
              </a:ext>
            </a:extLst>
          </p:cNvPr>
          <p:cNvPicPr>
            <a:picLocks noChangeAspect="1"/>
          </p:cNvPicPr>
          <p:nvPr/>
        </p:nvPicPr>
        <p:blipFill>
          <a:blip r:embed="rId3"/>
          <a:stretch>
            <a:fillRect/>
          </a:stretch>
        </p:blipFill>
        <p:spPr>
          <a:xfrm>
            <a:off x="3566160" y="3639312"/>
            <a:ext cx="1999928" cy="11281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5247590"/>
          </a:xfrm>
          <a:prstGeom prst="rect">
            <a:avLst/>
          </a:prstGeom>
          <a:noFill/>
        </p:spPr>
        <p:txBody>
          <a:bodyPr wrap="square" lIns="91440" tIns="45720" rIns="91440" bIns="45720" rtlCol="0" anchor="t">
            <a:spAutoFit/>
          </a:bodyPr>
          <a:lstStyle/>
          <a:p>
            <a:r>
              <a:rPr lang="en-IN" sz="2000" b="1" dirty="0"/>
              <a:t>Problem Statement: Predicting Nutritional Requirements Using Machine Learning</a:t>
            </a:r>
          </a:p>
          <a:p>
            <a:r>
              <a:rPr lang="en-IN" sz="2000" dirty="0"/>
              <a:t>Nutrition plays a vital role in maintaining good health and preventing lifestyle-related diseases. Many individuals suffer from nutritional deficiencies due to improper diet choices, lack of awareness, and limited access to personalized dietary guidance. Manually </a:t>
            </a:r>
            <a:r>
              <a:rPr lang="en-IN" sz="2000" dirty="0" err="1"/>
              <a:t>analyzing</a:t>
            </a:r>
            <a:r>
              <a:rPr lang="en-IN" sz="2000" dirty="0"/>
              <a:t> an individual's health information, dietary habits, and lifestyle factors to provide suitable nutritional recommendations can be time-consuming and may not always produce accurate results.</a:t>
            </a:r>
          </a:p>
          <a:p>
            <a:r>
              <a:rPr lang="en-IN" sz="2000" dirty="0"/>
              <a:t>The goal of this project is to design, build, and evaluate a </a:t>
            </a:r>
            <a:r>
              <a:rPr lang="en-IN" sz="2000" b="1" dirty="0"/>
              <a:t>machine learning-based Nutritional Agent</a:t>
            </a:r>
            <a:r>
              <a:rPr lang="en-IN" sz="2000" dirty="0"/>
              <a:t> that can </a:t>
            </a:r>
            <a:r>
              <a:rPr lang="en-IN" sz="2000" dirty="0" err="1"/>
              <a:t>analyze</a:t>
            </a:r>
            <a:r>
              <a:rPr lang="en-IN" sz="2000" dirty="0"/>
              <a:t> user-specific health and lifestyle data to predict appropriate nutritional recommendations. The system will use factors such as age, gender, height, weight, BMI, activity level, dietary preferences, and health conditions to classify nutritional needs and suggest personalized diet plans.</a:t>
            </a:r>
          </a:p>
          <a:p>
            <a:r>
              <a:rPr lang="en-IN" sz="2000" dirty="0"/>
              <a:t>The proposed Nutritional Agent aims to provide an intelligent and reliable solution that assists users and healthcare professionals in making informed dietary decisions. By automating nutritional assessment and recommendation processes, the system can help promote healthier lifestyles, identify potential nutritional risks, and deliver personalized guidance efficiently.</a:t>
            </a:r>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5883085"/>
          </a:xfrm>
          <a:prstGeom prst="rect">
            <a:avLst/>
          </a:prstGeom>
          <a:noFill/>
        </p:spPr>
        <p:txBody>
          <a:bodyPr wrap="square" lIns="91440" tIns="45720" rIns="91440" bIns="45720" rtlCol="0" anchor="t">
            <a:spAutoFit/>
          </a:bodyPr>
          <a:lstStyle/>
          <a:p>
            <a:r>
              <a:rPr lang="en-IN" sz="2000" b="1" dirty="0"/>
              <a:t>(IBM watsonx.ai Studio – </a:t>
            </a:r>
            <a:r>
              <a:rPr lang="en-IN" sz="2000" b="1" dirty="0" err="1"/>
              <a:t>AutoAI</a:t>
            </a:r>
            <a:r>
              <a:rPr lang="en-IN" sz="2000" b="1" dirty="0"/>
              <a:t> &amp; </a:t>
            </a:r>
            <a:r>
              <a:rPr lang="en-IN" sz="2000" b="1" dirty="0" err="1"/>
              <a:t>watsonx</a:t>
            </a:r>
            <a:r>
              <a:rPr lang="en-IN" sz="2000" b="1" dirty="0"/>
              <a:t> Runtime):</a:t>
            </a:r>
          </a:p>
          <a:p>
            <a:r>
              <a:rPr lang="en-IN" sz="2000" dirty="0"/>
              <a:t>We propose an </a:t>
            </a:r>
            <a:r>
              <a:rPr lang="en-IN" sz="2000" b="1" dirty="0"/>
              <a:t>AI-powered Nutritional Agent</a:t>
            </a:r>
            <a:r>
              <a:rPr lang="en-IN" sz="2000" dirty="0"/>
              <a:t> using </a:t>
            </a:r>
            <a:r>
              <a:rPr lang="en-IN" sz="2000" b="1" dirty="0"/>
              <a:t>IBM watsonx.ai Studio, </a:t>
            </a:r>
            <a:r>
              <a:rPr lang="en-IN" sz="2000" b="1" dirty="0" err="1"/>
              <a:t>AutoAI</a:t>
            </a:r>
            <a:r>
              <a:rPr lang="en-IN" sz="2000" b="1" dirty="0"/>
              <a:t>, and </a:t>
            </a:r>
            <a:r>
              <a:rPr lang="en-IN" sz="2000" b="1" dirty="0" err="1"/>
              <a:t>watsonx</a:t>
            </a:r>
            <a:r>
              <a:rPr lang="en-IN" sz="2000" b="1" dirty="0"/>
              <a:t> Runtime</a:t>
            </a:r>
            <a:r>
              <a:rPr lang="en-IN" sz="2000" dirty="0"/>
              <a:t> to provide personalized nutrition recommendations based on an individual's health and lifestyle information.</a:t>
            </a:r>
          </a:p>
          <a:p>
            <a:r>
              <a:rPr lang="en-IN" sz="2000" dirty="0"/>
              <a:t>User health and dietary data such as age, gender, height, weight, BMI, activity level, dietary preferences, and health conditions will be collected and uploaded to </a:t>
            </a:r>
            <a:r>
              <a:rPr lang="en-IN" sz="2000" b="1" dirty="0"/>
              <a:t>IBM watsonx.ai Studio</a:t>
            </a:r>
            <a:r>
              <a:rPr lang="en-IN" sz="2000" dirty="0"/>
              <a:t>. </a:t>
            </a:r>
          </a:p>
          <a:p>
            <a:r>
              <a:rPr lang="en-IN" sz="2000" b="1" dirty="0" err="1"/>
              <a:t>AutoAI</a:t>
            </a:r>
            <a:r>
              <a:rPr lang="en-IN" sz="2000" dirty="0"/>
              <a:t> will automatically perform data preprocessing, feature engineering, algorithm selection, and hyperparameter optimization to develop an efficient machine learning model. </a:t>
            </a:r>
          </a:p>
          <a:p>
            <a:r>
              <a:rPr lang="en-IN" sz="2000" dirty="0"/>
              <a:t>Multiple machine learning models will be generated, trained, and evaluated to identify the best-performing model for predicting nutritional requirements and recommendations. </a:t>
            </a:r>
          </a:p>
          <a:p>
            <a:r>
              <a:rPr lang="en-IN" sz="2000" dirty="0"/>
              <a:t>The selected model will classify users into appropriate nutrition categories and generate personalized diet suggestions based on their specific needs. </a:t>
            </a:r>
          </a:p>
          <a:p>
            <a:r>
              <a:rPr lang="en-IN" sz="2000" dirty="0"/>
              <a:t>The trained model will be deployed using </a:t>
            </a:r>
            <a:r>
              <a:rPr lang="en-IN" sz="2000" b="1" dirty="0"/>
              <a:t>IBM </a:t>
            </a:r>
            <a:r>
              <a:rPr lang="en-IN" sz="2000" b="1" dirty="0" err="1"/>
              <a:t>watsonx</a:t>
            </a:r>
            <a:r>
              <a:rPr lang="en-IN" sz="2000" b="1" dirty="0"/>
              <a:t> Runtime</a:t>
            </a:r>
            <a:r>
              <a:rPr lang="en-IN" sz="2000" dirty="0"/>
              <a:t>, enabling scalable and real-time nutritional predictions through an intelligent AI-based nutrition assistant. </a:t>
            </a:r>
          </a:p>
          <a:p>
            <a:r>
              <a:rPr lang="en-IN" sz="2000" dirty="0"/>
              <a:t>The Nutritional Agent will help users make informed dietary decisions, maintain a healthy lifestyle, and receive customized nutrition guidance efficiently.</a:t>
            </a:r>
          </a:p>
          <a:p>
            <a:pPr fontAlgn="base">
              <a:lnSpc>
                <a:spcPct val="150000"/>
              </a:lnSpc>
            </a:pPr>
            <a:br>
              <a:rPr lang="en-US" sz="2000" dirty="0"/>
            </a:br>
            <a:r>
              <a:rPr lang="en-US" sz="20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570208"/>
          </a:xfrm>
          <a:prstGeom prst="rect">
            <a:avLst/>
          </a:prstGeom>
          <a:noFill/>
        </p:spPr>
        <p:txBody>
          <a:bodyPr wrap="square" lIns="91440" tIns="45720" rIns="91440" bIns="45720" rtlCol="0" anchor="t">
            <a:spAutoFit/>
          </a:bodyPr>
          <a:lstStyle/>
          <a:p>
            <a:r>
              <a:rPr lang="en-IN" sz="1800" b="1" dirty="0"/>
              <a:t>IBM Cloud –</a:t>
            </a:r>
            <a:r>
              <a:rPr lang="en-IN" sz="1800" dirty="0"/>
              <a:t> It provides a secure and scalable environment to build, deploy, and manage the </a:t>
            </a:r>
            <a:r>
              <a:rPr lang="en-IN" sz="1800" b="1" dirty="0"/>
              <a:t>Nutrition Agent</a:t>
            </a:r>
            <a:r>
              <a:rPr lang="en-IN" sz="1800" dirty="0"/>
              <a:t> using IBM watsonx.ai Studio and </a:t>
            </a:r>
            <a:r>
              <a:rPr lang="en-IN" sz="1800" dirty="0" err="1"/>
              <a:t>watsonx</a:t>
            </a:r>
            <a:r>
              <a:rPr lang="en-IN" sz="1800" dirty="0"/>
              <a:t> Runtime.</a:t>
            </a:r>
          </a:p>
          <a:p>
            <a:endParaRPr lang="en-IN" sz="1800" dirty="0"/>
          </a:p>
          <a:p>
            <a:r>
              <a:rPr lang="en-IN" sz="1800" b="1" dirty="0"/>
              <a:t>ML Algorithm/ Model Used:</a:t>
            </a:r>
            <a:r>
              <a:rPr lang="en-IN" sz="1800" dirty="0"/>
              <a:t> Random Forest Classifier (</a:t>
            </a:r>
            <a:r>
              <a:rPr lang="en-IN" sz="1800" dirty="0" err="1"/>
              <a:t>AutoAI</a:t>
            </a:r>
            <a:r>
              <a:rPr lang="en-IN" sz="1800" dirty="0"/>
              <a:t> selected best-performing model)</a:t>
            </a:r>
          </a:p>
          <a:p>
            <a:endParaRPr lang="en-IN" sz="1800" b="1" dirty="0"/>
          </a:p>
          <a:p>
            <a:r>
              <a:rPr lang="en-IN" sz="1800" b="1" dirty="0"/>
              <a:t>Accuracy Obtained:</a:t>
            </a:r>
            <a:r>
              <a:rPr lang="en-IN" sz="1800" dirty="0"/>
              <a:t> 92%</a:t>
            </a:r>
          </a:p>
          <a:p>
            <a:endParaRPr lang="en-IN" sz="1800" b="1" dirty="0"/>
          </a:p>
          <a:p>
            <a:r>
              <a:rPr lang="en-IN" sz="1800" b="1" dirty="0"/>
              <a:t>Enhancements and Hyperparameter tuning:</a:t>
            </a:r>
            <a:r>
              <a:rPr lang="en-IN" sz="1800" dirty="0"/>
              <a:t> </a:t>
            </a:r>
            <a:r>
              <a:rPr lang="en-IN" sz="1800" dirty="0" err="1"/>
              <a:t>AutoAI</a:t>
            </a:r>
            <a:r>
              <a:rPr lang="en-IN" sz="1800" dirty="0"/>
              <a:t> performed feature engineering, model optimization, and hyperparameter tuning to improve prediction accuracy.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endParaRPr sz="2400" b="1" dirty="0">
              <a:sym typeface="Times New Roman"/>
            </a:endParaRPr>
          </a:p>
        </p:txBody>
      </p:sp>
      <p:pic>
        <p:nvPicPr>
          <p:cNvPr id="4" name="Picture 3">
            <a:extLst>
              <a:ext uri="{FF2B5EF4-FFF2-40B4-BE49-F238E27FC236}">
                <a16:creationId xmlns:a16="http://schemas.microsoft.com/office/drawing/2014/main" id="{6B5D4C97-6ABE-447B-B2F5-6E35E0912BB4}"/>
              </a:ext>
            </a:extLst>
          </p:cNvPr>
          <p:cNvPicPr>
            <a:picLocks noChangeAspect="1"/>
          </p:cNvPicPr>
          <p:nvPr/>
        </p:nvPicPr>
        <p:blipFill>
          <a:blip r:embed="rId3"/>
          <a:stretch>
            <a:fillRect/>
          </a:stretch>
        </p:blipFill>
        <p:spPr>
          <a:xfrm>
            <a:off x="75890" y="390369"/>
            <a:ext cx="12040219" cy="607726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4" name="Picture 3">
            <a:extLst>
              <a:ext uri="{FF2B5EF4-FFF2-40B4-BE49-F238E27FC236}">
                <a16:creationId xmlns:a16="http://schemas.microsoft.com/office/drawing/2014/main" id="{994DC2BA-F149-AFC8-CCB6-479212A7FC53}"/>
              </a:ext>
            </a:extLst>
          </p:cNvPr>
          <p:cNvPicPr>
            <a:picLocks noChangeAspect="1"/>
          </p:cNvPicPr>
          <p:nvPr/>
        </p:nvPicPr>
        <p:blipFill>
          <a:blip r:embed="rId3"/>
          <a:stretch>
            <a:fillRect/>
          </a:stretch>
        </p:blipFill>
        <p:spPr>
          <a:xfrm>
            <a:off x="148919" y="566929"/>
            <a:ext cx="11894161" cy="52656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E54F1D-A602-10C4-ED6D-23199BD3A715}"/>
              </a:ext>
            </a:extLst>
          </p:cNvPr>
          <p:cNvPicPr>
            <a:picLocks noChangeAspect="1"/>
          </p:cNvPicPr>
          <p:nvPr/>
        </p:nvPicPr>
        <p:blipFill>
          <a:blip r:embed="rId3"/>
          <a:stretch>
            <a:fillRect/>
          </a:stretch>
        </p:blipFill>
        <p:spPr>
          <a:xfrm>
            <a:off x="129868" y="558652"/>
            <a:ext cx="11932263" cy="574069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D96697-7C38-AA43-968F-1BDC7A7B1B68}"/>
              </a:ext>
            </a:extLst>
          </p:cNvPr>
          <p:cNvPicPr>
            <a:picLocks noChangeAspect="1"/>
          </p:cNvPicPr>
          <p:nvPr/>
        </p:nvPicPr>
        <p:blipFill>
          <a:blip r:embed="rId2"/>
          <a:stretch>
            <a:fillRect/>
          </a:stretch>
        </p:blipFill>
        <p:spPr>
          <a:xfrm>
            <a:off x="34613" y="434821"/>
            <a:ext cx="12122773" cy="5988358"/>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7707AB-D2A9-0EF3-AAFA-635536FFF563}"/>
              </a:ext>
            </a:extLst>
          </p:cNvPr>
          <p:cNvPicPr>
            <a:picLocks noChangeAspect="1"/>
          </p:cNvPicPr>
          <p:nvPr/>
        </p:nvPicPr>
        <p:blipFill>
          <a:blip r:embed="rId2"/>
          <a:stretch>
            <a:fillRect/>
          </a:stretch>
        </p:blipFill>
        <p:spPr>
          <a:xfrm>
            <a:off x="25088" y="358617"/>
            <a:ext cx="12141824" cy="6140766"/>
          </a:xfrm>
          <a:prstGeom prst="rect">
            <a:avLst/>
          </a:prstGeom>
        </p:spPr>
      </p:pic>
    </p:spTree>
    <p:extLst>
      <p:ext uri="{BB962C8B-B14F-4D97-AF65-F5344CB8AC3E}">
        <p14:creationId xmlns:p14="http://schemas.microsoft.com/office/powerpoint/2010/main" val="4270220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2585323"/>
          </a:xfrm>
          <a:prstGeom prst="rect">
            <a:avLst/>
          </a:prstGeom>
          <a:noFill/>
        </p:spPr>
        <p:txBody>
          <a:bodyPr wrap="square" lIns="91440" tIns="45720" rIns="91440" bIns="45720" rtlCol="0" anchor="t">
            <a:spAutoFit/>
          </a:bodyPr>
          <a:lstStyle/>
          <a:p>
            <a:pPr marL="285750" indent="-285750">
              <a:buChar char="•"/>
            </a:pPr>
            <a:r>
              <a:rPr lang="en-IN" sz="1800" dirty="0"/>
              <a:t>The solution provides an AI-based </a:t>
            </a:r>
            <a:r>
              <a:rPr lang="en-IN" sz="1800" b="1" dirty="0"/>
              <a:t>Nutrition Agent</a:t>
            </a:r>
            <a:r>
              <a:rPr lang="en-IN" sz="1800" dirty="0"/>
              <a:t> that automates personalized dietary recommendations, reducing manual nutrition assessment efforts. </a:t>
            </a:r>
          </a:p>
          <a:p>
            <a:pPr marL="285750" indent="-285750">
              <a:buChar char="•"/>
            </a:pPr>
            <a:r>
              <a:rPr lang="en-IN" sz="1800" dirty="0"/>
              <a:t>It uses </a:t>
            </a:r>
            <a:r>
              <a:rPr lang="en-IN" sz="1800" b="1" dirty="0"/>
              <a:t>IBM watsonx.ai </a:t>
            </a:r>
            <a:r>
              <a:rPr lang="en-IN" sz="1800" b="1" dirty="0" err="1"/>
              <a:t>AutoAI</a:t>
            </a:r>
            <a:r>
              <a:rPr lang="en-IN" sz="1800" dirty="0"/>
              <a:t> to automatically select and optimize the best machine learning model with minimal coding. </a:t>
            </a:r>
          </a:p>
          <a:p>
            <a:pPr marL="285750" indent="-285750">
              <a:buChar char="•"/>
            </a:pPr>
            <a:r>
              <a:rPr lang="en-IN" sz="1800" dirty="0"/>
              <a:t>The system </a:t>
            </a:r>
            <a:r>
              <a:rPr lang="en-IN" sz="1800" dirty="0" err="1"/>
              <a:t>analyzes</a:t>
            </a:r>
            <a:r>
              <a:rPr lang="en-IN" sz="1800" dirty="0"/>
              <a:t> health and lifestyle data to generate accurate and personalized nutrition suggestions through a single intelligent platform.</a:t>
            </a:r>
          </a:p>
          <a:p>
            <a:pPr marL="285750" indent="-285750">
              <a:buChar char="•"/>
            </a:pPr>
            <a:r>
              <a:rPr lang="en-IN" sz="1800" dirty="0"/>
              <a:t> Automated feature engineering helps identify hidden patterns in user health and dietary information.</a:t>
            </a:r>
          </a:p>
          <a:p>
            <a:pPr marL="285750" indent="-285750">
              <a:buChar char="•"/>
            </a:pPr>
            <a:r>
              <a:rPr lang="en-IN" sz="1800" dirty="0"/>
              <a:t> The model enables consistent and data-driven nutrition guidance, minimizing human errors and improving dietary decision-making.</a:t>
            </a:r>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b="0" i="0" u="none" strike="noStrike" cap="none" dirty="0">
                <a:solidFill>
                  <a:srgbClr val="000000"/>
                </a:solidFill>
                <a:latin typeface="Times New Roman"/>
                <a:ea typeface="Times New Roman"/>
                <a:cs typeface="Times New Roman"/>
                <a:sym typeface="Times New Roman"/>
                <a:hlinkClick r:id="rId3"/>
              </a:rPr>
              <a:t>https://github.com/Ritika-0909/Nutrition-agent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a:t>
            </a:r>
            <a:r>
              <a:rPr lang="en-US" sz="2800" b="1" dirty="0">
                <a:sym typeface="Times New Roman"/>
              </a:rPr>
              <a:t>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a:buChar char="•"/>
            </a:pPr>
            <a:r>
              <a:rPr lang="en-IN" sz="2000" dirty="0"/>
              <a:t>The </a:t>
            </a:r>
            <a:r>
              <a:rPr lang="en-IN" sz="2000" b="1" dirty="0"/>
              <a:t>Nutrition Agent</a:t>
            </a:r>
            <a:r>
              <a:rPr lang="en-IN" sz="2000" dirty="0"/>
              <a:t> can be integrated with healthcare and wellness platforms to provide automated personalized diet recommendations.</a:t>
            </a:r>
          </a:p>
          <a:p>
            <a:pPr marL="285750" indent="-285750">
              <a:lnSpc>
                <a:spcPct val="150000"/>
              </a:lnSpc>
              <a:buFont typeface="Arial"/>
              <a:buChar char="•"/>
            </a:pPr>
            <a:r>
              <a:rPr lang="en-IN" sz="2000" dirty="0"/>
              <a:t> Additional nutrition programs and health conditions can be included to create a unified AI-based nutrition guidance system.</a:t>
            </a:r>
          </a:p>
          <a:p>
            <a:pPr marL="285750" indent="-285750">
              <a:lnSpc>
                <a:spcPct val="150000"/>
              </a:lnSpc>
              <a:buFont typeface="Arial"/>
              <a:buChar char="•"/>
            </a:pPr>
            <a:r>
              <a:rPr lang="en-IN" sz="2000" dirty="0"/>
              <a:t> Real-time health data integration from wearable devices can improve recommendation accuracy and monitoring.</a:t>
            </a:r>
          </a:p>
          <a:p>
            <a:pPr marL="285750" indent="-285750">
              <a:lnSpc>
                <a:spcPct val="150000"/>
              </a:lnSpc>
              <a:buFont typeface="Arial"/>
              <a:buChar char="•"/>
            </a:pPr>
            <a:r>
              <a:rPr lang="en-IN" sz="2000" dirty="0"/>
              <a:t> Advanced AI models in </a:t>
            </a:r>
            <a:r>
              <a:rPr lang="en-IN" sz="2000" b="1" dirty="0"/>
              <a:t>IBM watsonx.ai</a:t>
            </a:r>
            <a:r>
              <a:rPr lang="en-IN" sz="2000" dirty="0"/>
              <a:t> can continuously improve predictions as more user data becomes available.</a:t>
            </a:r>
          </a:p>
          <a:p>
            <a:pPr marL="285750" indent="-285750">
              <a:lnSpc>
                <a:spcPct val="150000"/>
              </a:lnSpc>
              <a:buFont typeface="Arial"/>
              <a:buChar char="•"/>
            </a:pPr>
            <a:r>
              <a:rPr lang="en-IN" sz="2000" dirty="0"/>
              <a:t> The solution can be scaled to support large-scale personalized nutrition management and promote healthier lifestyles.</a:t>
            </a: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D4D22717-EEE7-B033-4A9E-8FFB8A11C2E5}"/>
              </a:ext>
            </a:extLst>
          </p:cNvPr>
          <p:cNvPicPr>
            <a:picLocks noChangeAspect="1"/>
          </p:cNvPicPr>
          <p:nvPr/>
        </p:nvPicPr>
        <p:blipFill>
          <a:blip r:embed="rId7"/>
          <a:stretch>
            <a:fillRect/>
          </a:stretch>
        </p:blipFill>
        <p:spPr>
          <a:xfrm>
            <a:off x="552048" y="690061"/>
            <a:ext cx="10369296" cy="577965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5718E6F8-2191-215C-39E8-3BBD0DDDB306}"/>
              </a:ext>
            </a:extLst>
          </p:cNvPr>
          <p:cNvPicPr>
            <a:picLocks noChangeAspect="1"/>
          </p:cNvPicPr>
          <p:nvPr/>
        </p:nvPicPr>
        <p:blipFill>
          <a:blip r:embed="rId2"/>
          <a:stretch>
            <a:fillRect/>
          </a:stretch>
        </p:blipFill>
        <p:spPr>
          <a:xfrm>
            <a:off x="176696" y="800470"/>
            <a:ext cx="11683072" cy="574654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760</Words>
  <Application>Microsoft Office PowerPoint</Application>
  <PresentationFormat>Widescreen</PresentationFormat>
  <Paragraphs>62</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sourabh boora</cp:lastModifiedBy>
  <cp:revision>3</cp:revision>
  <dcterms:created xsi:type="dcterms:W3CDTF">2025-07-08T05:06:56Z</dcterms:created>
  <dcterms:modified xsi:type="dcterms:W3CDTF">2026-07-13T09:04:50Z</dcterms:modified>
</cp:coreProperties>
</file>